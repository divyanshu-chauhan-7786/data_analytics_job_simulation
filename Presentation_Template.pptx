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62" r:id="rId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  <p:embeddedFont>
      <p:font typeface="Roboto Slab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1408"/>
  </p:normalViewPr>
  <p:slideViewPr>
    <p:cSldViewPr snapToGrid="0">
      <p:cViewPr varScale="1">
        <p:scale>
          <a:sx n="89" d="100"/>
          <a:sy n="89" d="100"/>
        </p:scale>
        <p:origin x="1282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Agentic AI for Scalable, Fair, and Effective Debt Management at Geldium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System Works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IN" sz="1600" b="1" dirty="0"/>
              <a:t>How the Intelligent Collections System Work</a:t>
            </a:r>
          </a:p>
          <a:p>
            <a:pPr marL="114300" indent="0">
              <a:buNone/>
            </a:pPr>
            <a:endParaRPr lang="en-IN" sz="1600" dirty="0"/>
          </a:p>
          <a:p>
            <a:r>
              <a:rPr lang="en-IN" sz="1600" b="1" dirty="0"/>
              <a:t>Input Layer:</a:t>
            </a:r>
            <a:r>
              <a:rPr lang="en-IN" sz="1600" dirty="0"/>
              <a:t> Customer profile, payment behaviour, credit score, utilization trends</a:t>
            </a:r>
          </a:p>
          <a:p>
            <a:r>
              <a:rPr lang="en-IN" sz="1600" b="1" dirty="0"/>
              <a:t>Decision Engine:</a:t>
            </a:r>
            <a:r>
              <a:rPr lang="en-IN" sz="1600" dirty="0"/>
              <a:t> Machine-learning risk scoring + business rules</a:t>
            </a:r>
          </a:p>
          <a:p>
            <a:r>
              <a:rPr lang="en-IN" sz="1600" b="1" dirty="0"/>
              <a:t>Action Layer:</a:t>
            </a:r>
            <a:r>
              <a:rPr lang="en-IN" sz="1600" dirty="0"/>
              <a:t> Personalized interventions (reminders, repayment plans, support options)</a:t>
            </a:r>
          </a:p>
          <a:p>
            <a:r>
              <a:rPr lang="en-IN" sz="1600" b="1" dirty="0"/>
              <a:t>Learning Loop:</a:t>
            </a:r>
            <a:r>
              <a:rPr lang="en-IN" sz="1600" dirty="0"/>
              <a:t> System improves using new outcomes and feedback</a:t>
            </a:r>
          </a:p>
          <a:p>
            <a:r>
              <a:rPr lang="en-IN" sz="1600" b="1" dirty="0"/>
              <a:t>Optional Visual Shape:</a:t>
            </a:r>
            <a:br>
              <a:rPr lang="en-IN" sz="1600" dirty="0"/>
            </a:br>
            <a:r>
              <a:rPr lang="en-IN" sz="1600" dirty="0"/>
              <a:t>                                  </a:t>
            </a:r>
            <a:r>
              <a:rPr lang="en-IN" sz="1600" i="1" dirty="0"/>
              <a:t>Data → Model → Action → Learning</a:t>
            </a:r>
            <a:endParaRPr lang="en-IN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of Agentic AI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None/>
            </a:pPr>
            <a:r>
              <a:rPr lang="en-IN" dirty="0"/>
              <a:t>Autonomy vs Human Oversight</a:t>
            </a:r>
          </a:p>
          <a:p>
            <a:pPr>
              <a:buNone/>
            </a:pPr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166E21-E00B-DC90-721A-FEEB281451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523049"/>
              </p:ext>
            </p:extLst>
          </p:nvPr>
        </p:nvGraphicFramePr>
        <p:xfrm>
          <a:off x="618225" y="2135637"/>
          <a:ext cx="6627962" cy="1483360"/>
        </p:xfrm>
        <a:graphic>
          <a:graphicData uri="http://schemas.openxmlformats.org/drawingml/2006/table">
            <a:tbl>
              <a:tblPr firstRow="1" bandRow="1">
                <a:tableStyleId>{2E584E98-F22C-4E6F-8C55-6CFEC2229C57}</a:tableStyleId>
              </a:tblPr>
              <a:tblGrid>
                <a:gridCol w="3313981">
                  <a:extLst>
                    <a:ext uri="{9D8B030D-6E8A-4147-A177-3AD203B41FA5}">
                      <a16:colId xmlns:a16="http://schemas.microsoft.com/office/drawing/2014/main" val="3193982531"/>
                    </a:ext>
                  </a:extLst>
                </a:gridCol>
                <a:gridCol w="3313981">
                  <a:extLst>
                    <a:ext uri="{9D8B030D-6E8A-4147-A177-3AD203B41FA5}">
                      <a16:colId xmlns:a16="http://schemas.microsoft.com/office/drawing/2014/main" val="32541743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Autonomous System 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Human Oversight Responsibilities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801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Risk scoring and segmentation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Reviewing escalations and disputes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0170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Automated reminders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Approving critical customer actions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292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Payment plan suggestions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Monitoring fairness and compliance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3329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AI Guardrails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FB2145-AA62-8224-191D-56A6988B49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7900" y="1479880"/>
            <a:ext cx="871584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Fairness testing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avoid bias across demographic or geographic groups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Explainability built-in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so decisions can be explained to customers and regulators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Compliance aligned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laws (ECOA, RBI guidelines, GDPR)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Human-in-the-loop control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sensitive or high-impact cases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Business Impact</a:t>
            </a: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US" sz="1600" dirty="0"/>
              <a:t>Expected Impact to Geldium &amp; Customers</a:t>
            </a:r>
          </a:p>
          <a:p>
            <a:pPr marL="114300" indent="0">
              <a:buNone/>
            </a:pPr>
            <a:r>
              <a:rPr lang="en-IN" sz="1600" b="1" dirty="0"/>
              <a:t>Business KPIs:</a:t>
            </a:r>
            <a:endParaRPr lang="en-IN" sz="1600" dirty="0"/>
          </a:p>
          <a:p>
            <a:r>
              <a:rPr lang="en-IN" sz="1600" dirty="0"/>
              <a:t>15–30% reduction in delinquency rate</a:t>
            </a:r>
          </a:p>
          <a:p>
            <a:r>
              <a:rPr lang="en-IN" sz="1600" dirty="0"/>
              <a:t>Reduced manual effort and operational cost</a:t>
            </a:r>
          </a:p>
          <a:p>
            <a:r>
              <a:rPr lang="en-IN" sz="1600" dirty="0"/>
              <a:t>Faster decision cycle and collections workflow</a:t>
            </a:r>
          </a:p>
          <a:p>
            <a:pPr marL="114300" indent="0">
              <a:buNone/>
            </a:pPr>
            <a:r>
              <a:rPr lang="en-IN" sz="1600" b="1" dirty="0"/>
              <a:t>Customer Outcomes:</a:t>
            </a:r>
            <a:endParaRPr lang="en-IN" sz="1600" dirty="0"/>
          </a:p>
          <a:p>
            <a:r>
              <a:rPr lang="en-IN" sz="1600" dirty="0"/>
              <a:t>Early support before delinquency escalates</a:t>
            </a:r>
          </a:p>
          <a:p>
            <a:r>
              <a:rPr lang="en-IN" sz="1600" dirty="0"/>
              <a:t>Transparent decisioning builds trust</a:t>
            </a:r>
          </a:p>
          <a:p>
            <a:r>
              <a:rPr lang="en-IN" sz="1600" dirty="0"/>
              <a:t>Personalized repayment pathways improve success</a:t>
            </a:r>
          </a:p>
          <a:p>
            <a:pPr>
              <a:buNone/>
            </a:pPr>
            <a:endParaRPr lang="en-GB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1373-ECCB-8893-C88B-952E49559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Closing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9607-54F3-CE30-20BB-21D4536BE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b="1" dirty="0"/>
              <a:t>Why This Matters</a:t>
            </a:r>
          </a:p>
          <a:p>
            <a:pPr marL="114300" indent="0">
              <a:buNone/>
            </a:pPr>
            <a:r>
              <a:rPr lang="en-US" dirty="0"/>
              <a:t>This AI-powered collections system will help Geldium become proactive instead of reactive — improving financial outcomes for the business while supporting customers in a fair, transparent, and personalized way.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219242"/>
      </p:ext>
    </p:extLst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476</Words>
  <Application>Microsoft Office PowerPoint</Application>
  <PresentationFormat>On-screen Show (16:9)</PresentationFormat>
  <Paragraphs>52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Roboto</vt:lpstr>
      <vt:lpstr>Roboto Slab</vt:lpstr>
      <vt:lpstr>Marina</vt:lpstr>
      <vt:lpstr>AI-Powered Collections Strategy</vt:lpstr>
      <vt:lpstr>How the System Works</vt:lpstr>
      <vt:lpstr>Role of Agentic AI</vt:lpstr>
      <vt:lpstr>Responsible AI Guardrails</vt:lpstr>
      <vt:lpstr>Expected Business Impact</vt:lpstr>
      <vt:lpstr>Closing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divyasnhu chauhan</cp:lastModifiedBy>
  <cp:revision>3</cp:revision>
  <dcterms:modified xsi:type="dcterms:W3CDTF">2025-12-07T06:58:15Z</dcterms:modified>
</cp:coreProperties>
</file>